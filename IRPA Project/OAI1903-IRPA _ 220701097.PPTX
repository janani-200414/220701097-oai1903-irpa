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handoutMasterIdLst>
    <p:handoutMasterId r:id="rId24"/>
  </p:handoutMasterIdLst>
  <p:sldIdLst>
    <p:sldId id="280" r:id="rId2"/>
    <p:sldId id="366" r:id="rId3"/>
    <p:sldId id="380" r:id="rId4"/>
    <p:sldId id="383" r:id="rId5"/>
    <p:sldId id="384" r:id="rId6"/>
    <p:sldId id="385" r:id="rId7"/>
    <p:sldId id="386" r:id="rId8"/>
    <p:sldId id="387" r:id="rId9"/>
    <p:sldId id="388" r:id="rId10"/>
    <p:sldId id="389" r:id="rId11"/>
    <p:sldId id="390" r:id="rId12"/>
    <p:sldId id="391" r:id="rId13"/>
    <p:sldId id="392" r:id="rId14"/>
    <p:sldId id="393" r:id="rId15"/>
    <p:sldId id="394" r:id="rId16"/>
    <p:sldId id="398" r:id="rId17"/>
    <p:sldId id="395" r:id="rId18"/>
    <p:sldId id="400" r:id="rId19"/>
    <p:sldId id="399" r:id="rId20"/>
    <p:sldId id="401" r:id="rId21"/>
    <p:sldId id="281"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88" autoAdjust="0"/>
    <p:restoredTop sz="94364" autoAdjust="0"/>
  </p:normalViewPr>
  <p:slideViewPr>
    <p:cSldViewPr>
      <p:cViewPr varScale="1">
        <p:scale>
          <a:sx n="78" d="100"/>
          <a:sy n="78" d="100"/>
        </p:scale>
        <p:origin x="1709"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11/21/2024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31746253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dirty="0"/>
          </a:p>
        </p:txBody>
      </p:sp>
    </p:spTree>
    <p:extLst>
      <p:ext uri="{BB962C8B-B14F-4D97-AF65-F5344CB8AC3E}">
        <p14:creationId xmlns:p14="http://schemas.microsoft.com/office/powerpoint/2010/main" val="32076749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11.xml"/><Relationship Id="rId7" Type="http://schemas.openxmlformats.org/officeDocument/2006/relationships/image" Target="../media/image10.jpg"/><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 Id="rId9"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notesSlide" Target="../notesSlides/notesSlide12.xml"/><Relationship Id="rId7" Type="http://schemas.openxmlformats.org/officeDocument/2006/relationships/image" Target="../media/image10.jpg"/><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 Id="rId9"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g"/><Relationship Id="rId7"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456757"/>
            <a:chOff x="-14748" y="986564"/>
            <a:chExt cx="9158748" cy="5456757"/>
          </a:xfrm>
        </p:grpSpPr>
        <p:sp>
          <p:nvSpPr>
            <p:cNvPr id="22" name="TextBox 21"/>
            <p:cNvSpPr txBox="1"/>
            <p:nvPr/>
          </p:nvSpPr>
          <p:spPr>
            <a:xfrm>
              <a:off x="177781" y="4812105"/>
              <a:ext cx="6050403" cy="1631216"/>
            </a:xfrm>
            <a:prstGeom prst="rect">
              <a:avLst/>
            </a:prstGeom>
            <a:noFill/>
          </p:spPr>
          <p:txBody>
            <a:bodyPr wrap="square" rtlCol="0">
              <a:spAutoFit/>
            </a:bodyPr>
            <a:lstStyle/>
            <a:p>
              <a:r>
                <a:rPr lang="en-US" sz="2000" b="1" dirty="0"/>
                <a:t>Your Register No. 220701097</a:t>
              </a:r>
            </a:p>
            <a:p>
              <a:r>
                <a:rPr lang="en-US" sz="2000" b="1" dirty="0"/>
                <a:t>Name : Janani J</a:t>
              </a:r>
            </a:p>
            <a:p>
              <a:r>
                <a:rPr lang="en-US" sz="2000" b="1" dirty="0"/>
                <a:t>Guide Name : Mrs. J. Jinu Sophia </a:t>
              </a:r>
            </a:p>
            <a:p>
              <a:r>
                <a:rPr lang="en-US" sz="2000" b="1" dirty="0"/>
                <a:t>Designation and Department : Assistant Professor (SG)</a:t>
              </a:r>
            </a:p>
            <a:p>
              <a:endParaRPr lang="en-US" sz="2000" b="1" dirty="0"/>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77782" y="2100903"/>
                <a:ext cx="4188156" cy="1754326"/>
              </a:xfrm>
              <a:prstGeom prst="rect">
                <a:avLst/>
              </a:prstGeom>
              <a:noFill/>
            </p:spPr>
            <p:txBody>
              <a:bodyPr wrap="square" rtlCol="0">
                <a:spAutoFit/>
              </a:bodyPr>
              <a:lstStyle/>
              <a:p>
                <a:r>
                  <a:rPr lang="en-US" sz="5400" b="1" dirty="0">
                    <a:solidFill>
                      <a:schemeClr val="bg1"/>
                    </a:solidFill>
                    <a:ea typeface="Open Sans Bold" panose="020B0806030504020204" pitchFamily="34" charset="0"/>
                    <a:cs typeface="Open Sans Bold" panose="020B0806030504020204" pitchFamily="34" charset="0"/>
                  </a:rPr>
                  <a:t>WhatsApp Bot</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rPr>
              <a:t>The WhatsApp Bot, developed using UiPath Studio, automates </a:t>
            </a:r>
            <a:r>
              <a:rPr lang="en-US" b="1" dirty="0">
                <a:latin typeface="Times New Roman" panose="02020603050405020304" pitchFamily="18" charset="0"/>
              </a:rPr>
              <a:t>message scheduling </a:t>
            </a:r>
            <a:r>
              <a:rPr lang="en-US" dirty="0">
                <a:latin typeface="Times New Roman" panose="02020603050405020304" pitchFamily="18" charset="0"/>
              </a:rPr>
              <a:t>by prompting users for a contact name or phone number, message content, and a specified date and time for delivery. The bot efficiently searches for the contact on WhatsApp and sends the message at the scheduled time, ensuring timely communication without manual intervention. This solution enhances user convenience by streamlining repetitive messaging tasks.</a:t>
            </a: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p:txBody>
          <a:bodyPr>
            <a:normAutofit/>
          </a:bodyPr>
          <a:lstStyle/>
          <a:p>
            <a:pPr algn="just">
              <a:lnSpc>
                <a:spcPct val="110000"/>
              </a:lnSpc>
            </a:pPr>
            <a:r>
              <a:rPr lang="en-US" dirty="0">
                <a:latin typeface="Times New Roman" panose="02020603050405020304" pitchFamily="18" charset="0"/>
              </a:rPr>
              <a:t>The need to automate repetitive messaging tasks, </a:t>
            </a:r>
            <a:r>
              <a:rPr lang="en-US" b="1" dirty="0">
                <a:latin typeface="Times New Roman" panose="02020603050405020304" pitchFamily="18" charset="0"/>
              </a:rPr>
              <a:t>minimize manual labor</a:t>
            </a:r>
            <a:r>
              <a:rPr lang="en-US" dirty="0">
                <a:latin typeface="Times New Roman" panose="02020603050405020304" pitchFamily="18" charset="0"/>
              </a:rPr>
              <a:t>, and guarantee </a:t>
            </a:r>
            <a:r>
              <a:rPr lang="en-US" b="1" dirty="0">
                <a:latin typeface="Times New Roman" panose="02020603050405020304" pitchFamily="18" charset="0"/>
              </a:rPr>
              <a:t>timely communication </a:t>
            </a:r>
            <a:r>
              <a:rPr lang="en-US" dirty="0">
                <a:latin typeface="Times New Roman" panose="02020603050405020304" pitchFamily="18" charset="0"/>
              </a:rPr>
              <a:t>is what drives the development of the suggested WhatsApp Bot system. It tackles the problem of communicating at precise times, which is </a:t>
            </a:r>
            <a:r>
              <a:rPr lang="en-US" b="1" dirty="0">
                <a:latin typeface="Times New Roman" panose="02020603050405020304" pitchFamily="18" charset="0"/>
              </a:rPr>
              <a:t>important for announcements, reminders, and planned updates</a:t>
            </a:r>
            <a:r>
              <a:rPr lang="en-US" dirty="0">
                <a:latin typeface="Times New Roman" panose="02020603050405020304" pitchFamily="18" charset="0"/>
              </a:rPr>
              <a:t>. This system reduces the chance of missing crucial communications,</a:t>
            </a:r>
            <a:r>
              <a:rPr lang="en-US" b="1" dirty="0">
                <a:latin typeface="Times New Roman" panose="02020603050405020304" pitchFamily="18" charset="0"/>
              </a:rPr>
              <a:t> increases productivity, and saves time </a:t>
            </a:r>
            <a:r>
              <a:rPr lang="en-US" dirty="0">
                <a:latin typeface="Times New Roman" panose="02020603050405020304" pitchFamily="18" charset="0"/>
              </a:rPr>
              <a:t>by enabling users to easily pre-schedule messages. It also provides a smooth way for people and companies to effectively manage their messaging schedules. </a:t>
            </a: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rPr>
              <a:t>Automates message scheduling, ensuring timely delivery.</a:t>
            </a:r>
          </a:p>
          <a:p>
            <a:pPr marL="0" indent="0" algn="just">
              <a:buNone/>
            </a:pPr>
            <a:endParaRPr lang="en-US" dirty="0">
              <a:latin typeface="Times New Roman" panose="02020603050405020304" pitchFamily="18" charset="0"/>
            </a:endParaRPr>
          </a:p>
          <a:p>
            <a:pPr algn="just"/>
            <a:r>
              <a:rPr lang="en-US" dirty="0">
                <a:latin typeface="Times New Roman" panose="02020603050405020304" pitchFamily="18" charset="0"/>
              </a:rPr>
              <a:t>Offers a user-friendly interface for easy scheduling.</a:t>
            </a:r>
          </a:p>
          <a:p>
            <a:pPr marL="0" indent="0" algn="just">
              <a:buNone/>
            </a:pPr>
            <a:endParaRPr lang="en-US" dirty="0">
              <a:latin typeface="Times New Roman" panose="02020603050405020304" pitchFamily="18" charset="0"/>
            </a:endParaRPr>
          </a:p>
          <a:p>
            <a:pPr algn="just"/>
            <a:r>
              <a:rPr lang="en-US" dirty="0">
                <a:latin typeface="Times New Roman" panose="02020603050405020304" pitchFamily="18" charset="0"/>
              </a:rPr>
              <a:t>Improves communication consistency for reminders and updates.</a:t>
            </a:r>
          </a:p>
          <a:p>
            <a:pPr marL="0" indent="0" algn="just">
              <a:buNone/>
            </a:pPr>
            <a:endParaRPr lang="en-US" dirty="0">
              <a:latin typeface="Times New Roman" panose="02020603050405020304" pitchFamily="18" charset="0"/>
            </a:endParaRPr>
          </a:p>
          <a:p>
            <a:pPr algn="just"/>
            <a:r>
              <a:rPr lang="en-US" dirty="0">
                <a:latin typeface="Times New Roman" panose="02020603050405020304" pitchFamily="18" charset="0"/>
              </a:rPr>
              <a:t>Increases convenience by handling multiple scheduled messages.</a:t>
            </a:r>
          </a:p>
          <a:p>
            <a:pPr marL="0" indent="0" algn="just">
              <a:buNone/>
            </a:pPr>
            <a:endParaRPr lang="en-US" dirty="0">
              <a:latin typeface="Times New Roman" panose="02020603050405020304" pitchFamily="18" charset="0"/>
            </a:endParaRPr>
          </a:p>
          <a:p>
            <a:pPr algn="just"/>
            <a:r>
              <a:rPr lang="en-US" dirty="0">
                <a:latin typeface="Times New Roman" panose="02020603050405020304" pitchFamily="18" charset="0"/>
              </a:rPr>
              <a:t>Reduces human errors in sending scheduled messages.</a:t>
            </a:r>
          </a:p>
          <a:p>
            <a:pPr marL="0" indent="0" algn="just">
              <a:buNone/>
            </a:pPr>
            <a:endParaRPr lang="en-US" dirty="0">
              <a:latin typeface="Times New Roman" panose="02020603050405020304" pitchFamily="18" charset="0"/>
            </a:endParaRPr>
          </a:p>
          <a:p>
            <a:pPr algn="just"/>
            <a:r>
              <a:rPr lang="en-IN" dirty="0">
                <a:latin typeface="Times New Roman" panose="02020603050405020304" pitchFamily="18" charset="0"/>
              </a:rPr>
              <a:t>Enhances productivity with efficient communication management.</a:t>
            </a:r>
            <a:endParaRPr lang="en-US" dirty="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normAutofit lnSpcReduction="10000"/>
          </a:bodyPr>
          <a:lstStyle/>
          <a:p>
            <a:pPr algn="just">
              <a:lnSpc>
                <a:spcPct val="150000"/>
              </a:lnSpc>
            </a:pPr>
            <a:r>
              <a:rPr lang="en-US" sz="2000" b="1" dirty="0">
                <a:solidFill>
                  <a:srgbClr val="333333"/>
                </a:solidFill>
                <a:latin typeface="Times New Roman" panose="02020603050405020304" pitchFamily="18" charset="0"/>
              </a:rPr>
              <a:t>Paper 1: </a:t>
            </a:r>
            <a:r>
              <a:rPr lang="en-US" sz="2000" dirty="0">
                <a:solidFill>
                  <a:srgbClr val="333333"/>
                </a:solidFill>
                <a:latin typeface="Times New Roman" panose="02020603050405020304" pitchFamily="18" charset="0"/>
              </a:rPr>
              <a:t>WhatsApp </a:t>
            </a:r>
            <a:r>
              <a:rPr lang="en-US" sz="2000" i="0" dirty="0">
                <a:solidFill>
                  <a:srgbClr val="333333"/>
                </a:solidFill>
                <a:effectLst/>
                <a:latin typeface="Times New Roman" panose="02020603050405020304" pitchFamily="18" charset="0"/>
              </a:rPr>
              <a:t>bot and Robotic Process Automation</a:t>
            </a:r>
          </a:p>
          <a:p>
            <a:pPr marL="0" indent="0" algn="just">
              <a:lnSpc>
                <a:spcPct val="150000"/>
              </a:lnSpc>
              <a:buNone/>
            </a:pPr>
            <a:r>
              <a:rPr lang="en-US" sz="2000" b="1" dirty="0">
                <a:solidFill>
                  <a:srgbClr val="333333"/>
                </a:solidFill>
                <a:latin typeface="Times New Roman" panose="02020603050405020304" pitchFamily="18" charset="0"/>
              </a:rPr>
              <a:t>     </a:t>
            </a:r>
            <a:r>
              <a:rPr lang="en-US" sz="2000" b="1" dirty="0">
                <a:latin typeface="Times New Roman" panose="02020603050405020304" pitchFamily="18" charset="0"/>
              </a:rPr>
              <a:t>ADVANTAGES: </a:t>
            </a:r>
            <a:r>
              <a:rPr lang="en-US" sz="2000" dirty="0">
                <a:latin typeface="Times New Roman" panose="02020603050405020304" pitchFamily="18" charset="0"/>
              </a:rPr>
              <a:t>1. Automates a business process effectively.</a:t>
            </a:r>
          </a:p>
          <a:p>
            <a:pPr marL="0" indent="0" algn="just">
              <a:lnSpc>
                <a:spcPct val="150000"/>
              </a:lnSpc>
              <a:buNone/>
            </a:pPr>
            <a:r>
              <a:rPr lang="en-US" sz="2000" dirty="0">
                <a:latin typeface="Times New Roman" panose="02020603050405020304" pitchFamily="18" charset="0"/>
              </a:rPr>
              <a:t>                                 2. Reveal tasks in a stipulated time.</a:t>
            </a:r>
          </a:p>
          <a:p>
            <a:pPr marL="0" indent="0" algn="just">
              <a:lnSpc>
                <a:spcPct val="150000"/>
              </a:lnSpc>
              <a:buNone/>
            </a:pPr>
            <a:r>
              <a:rPr lang="en-US" sz="2000" dirty="0">
                <a:solidFill>
                  <a:srgbClr val="333333"/>
                </a:solidFill>
                <a:latin typeface="Times New Roman" panose="02020603050405020304" pitchFamily="18" charset="0"/>
              </a:rPr>
              <a:t>     </a:t>
            </a:r>
            <a:r>
              <a:rPr lang="en-US" sz="2000" b="1" dirty="0">
                <a:solidFill>
                  <a:srgbClr val="333333"/>
                </a:solidFill>
                <a:latin typeface="Times New Roman" panose="02020603050405020304" pitchFamily="18" charset="0"/>
              </a:rPr>
              <a:t>DISADVANTAGE: </a:t>
            </a:r>
            <a:r>
              <a:rPr lang="en-US" sz="2000" dirty="0">
                <a:solidFill>
                  <a:srgbClr val="333333"/>
                </a:solidFill>
                <a:latin typeface="Times New Roman" panose="02020603050405020304" pitchFamily="18" charset="0"/>
              </a:rPr>
              <a:t>1. Dependent on WhatsApp’s interface, so any changes                                                could disrupt the bot.</a:t>
            </a:r>
          </a:p>
          <a:p>
            <a:pPr marL="0" indent="0" algn="just">
              <a:lnSpc>
                <a:spcPct val="150000"/>
              </a:lnSpc>
              <a:buNone/>
            </a:pPr>
            <a:endParaRPr lang="en-US" sz="2000" b="1" dirty="0">
              <a:solidFill>
                <a:srgbClr val="333333"/>
              </a:solidFill>
              <a:latin typeface="Times New Roman" panose="02020603050405020304" pitchFamily="18" charset="0"/>
            </a:endParaRPr>
          </a:p>
          <a:p>
            <a:pPr algn="just">
              <a:lnSpc>
                <a:spcPct val="150000"/>
              </a:lnSpc>
            </a:pPr>
            <a:r>
              <a:rPr lang="en-US" sz="2000" b="1" dirty="0">
                <a:latin typeface="Times New Roman" panose="02020603050405020304" pitchFamily="18" charset="0"/>
              </a:rPr>
              <a:t>Paper 2: </a:t>
            </a:r>
            <a:r>
              <a:rPr lang="en-US" sz="2000" dirty="0">
                <a:latin typeface="Times New Roman" panose="02020603050405020304" pitchFamily="18" charset="0"/>
              </a:rPr>
              <a:t>Robotic Process Automation (RPA) for reducing teaching workload</a:t>
            </a:r>
          </a:p>
          <a:p>
            <a:pPr marL="0" indent="0" algn="just">
              <a:lnSpc>
                <a:spcPct val="150000"/>
              </a:lnSpc>
              <a:buNone/>
            </a:pPr>
            <a:r>
              <a:rPr lang="en-US" sz="2000" b="1" dirty="0">
                <a:solidFill>
                  <a:srgbClr val="333333"/>
                </a:solidFill>
                <a:latin typeface="Times New Roman" panose="02020603050405020304" pitchFamily="18" charset="0"/>
              </a:rPr>
              <a:t>     ADVANTAGES: </a:t>
            </a:r>
            <a:r>
              <a:rPr lang="en-US" sz="2000" dirty="0">
                <a:solidFill>
                  <a:srgbClr val="333333"/>
                </a:solidFill>
                <a:latin typeface="Times New Roman" panose="02020603050405020304" pitchFamily="18" charset="0"/>
              </a:rPr>
              <a:t>1. Provides Intelligent automation.</a:t>
            </a:r>
          </a:p>
          <a:p>
            <a:pPr marL="0" indent="0" algn="just">
              <a:lnSpc>
                <a:spcPct val="150000"/>
              </a:lnSpc>
              <a:buNone/>
            </a:pPr>
            <a:r>
              <a:rPr lang="en-US" sz="2000" b="1" dirty="0">
                <a:solidFill>
                  <a:srgbClr val="333333"/>
                </a:solidFill>
                <a:latin typeface="Times New Roman" panose="02020603050405020304" pitchFamily="18" charset="0"/>
              </a:rPr>
              <a:t>                                </a:t>
            </a:r>
            <a:r>
              <a:rPr lang="en-US" sz="2000" dirty="0">
                <a:solidFill>
                  <a:srgbClr val="333333"/>
                </a:solidFill>
                <a:latin typeface="Times New Roman" panose="02020603050405020304" pitchFamily="18" charset="0"/>
              </a:rPr>
              <a:t>2. Performs Repetitive Tasks.</a:t>
            </a:r>
          </a:p>
          <a:p>
            <a:pPr marL="0" indent="0" algn="just">
              <a:lnSpc>
                <a:spcPct val="150000"/>
              </a:lnSpc>
              <a:buNone/>
            </a:pPr>
            <a:r>
              <a:rPr lang="en-US" sz="2000" dirty="0">
                <a:latin typeface="Times New Roman" panose="02020603050405020304" pitchFamily="18" charset="0"/>
              </a:rPr>
              <a:t>    </a:t>
            </a:r>
            <a:r>
              <a:rPr lang="en-US" sz="2000" b="1" dirty="0">
                <a:latin typeface="Times New Roman" panose="02020603050405020304" pitchFamily="18" charset="0"/>
              </a:rPr>
              <a:t>DISADVANTAGE: </a:t>
            </a:r>
            <a:r>
              <a:rPr lang="en-US" sz="2000" dirty="0">
                <a:latin typeface="Times New Roman" panose="02020603050405020304" pitchFamily="18" charset="0"/>
              </a:rPr>
              <a:t>1. Limited to scheduling, making it unsuitable for complex or real-time interactions.</a:t>
            </a:r>
          </a:p>
          <a:p>
            <a:endParaRPr lang="en-US" sz="2000" dirty="0">
              <a:solidFill>
                <a:srgbClr val="333333"/>
              </a:solidFill>
              <a:latin typeface="HelveticaNeue Regular"/>
            </a:endParaRPr>
          </a:p>
          <a:p>
            <a:pPr marL="0" indent="0">
              <a:buNone/>
            </a:pPr>
            <a:endParaRPr lang="en-US" sz="2000" b="1" dirty="0">
              <a:solidFill>
                <a:srgbClr val="333333"/>
              </a:solidFill>
              <a:latin typeface="HelveticaNeue Regular"/>
            </a:endParaRPr>
          </a:p>
          <a:p>
            <a:pPr marL="0" indent="0">
              <a:buNone/>
            </a:pPr>
            <a:endParaRPr lang="en-US" dirty="0"/>
          </a:p>
          <a:p>
            <a:endParaRPr lang="en-US" dirty="0"/>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rPr>
              <a:t>The WhatsApp Bot project's primary goal is to automate the process of sending </a:t>
            </a:r>
            <a:r>
              <a:rPr lang="en-US" b="1" dirty="0">
                <a:latin typeface="Times New Roman" panose="02020603050405020304" pitchFamily="18" charset="0"/>
              </a:rPr>
              <a:t>pre-planned messages </a:t>
            </a:r>
            <a:r>
              <a:rPr lang="en-US" dirty="0">
                <a:latin typeface="Times New Roman" panose="02020603050405020304" pitchFamily="18" charset="0"/>
              </a:rPr>
              <a:t>to designated contacts. Users can enter a phone number or contact name, the message's content, and the </a:t>
            </a:r>
            <a:r>
              <a:rPr lang="en-US" b="1" dirty="0">
                <a:latin typeface="Times New Roman" panose="02020603050405020304" pitchFamily="18" charset="0"/>
              </a:rPr>
              <a:t>preferred delivery date and time </a:t>
            </a:r>
            <a:r>
              <a:rPr lang="en-US" dirty="0">
                <a:latin typeface="Times New Roman" panose="02020603050405020304" pitchFamily="18" charset="0"/>
              </a:rPr>
              <a:t>using the bot. After that, it looks up the contact on WhatsApp automatically and makes sure the message is sent at the right time, increasing efficiency and eliminating the need for manual message management. </a:t>
            </a:r>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7" name="Picture 6">
            <a:extLst>
              <a:ext uri="{FF2B5EF4-FFF2-40B4-BE49-F238E27FC236}">
                <a16:creationId xmlns:a16="http://schemas.microsoft.com/office/drawing/2014/main" id="{DC74FD68-7FAE-F39C-6282-0415E6911A42}"/>
              </a:ext>
            </a:extLst>
          </p:cNvPr>
          <p:cNvPicPr>
            <a:picLocks noChangeAspect="1"/>
          </p:cNvPicPr>
          <p:nvPr/>
        </p:nvPicPr>
        <p:blipFill>
          <a:blip r:embed="rId4"/>
          <a:stretch>
            <a:fillRect/>
          </a:stretch>
        </p:blipFill>
        <p:spPr>
          <a:xfrm>
            <a:off x="2879812" y="1052736"/>
            <a:ext cx="2438611" cy="5258256"/>
          </a:xfrm>
          <a:prstGeom prst="rect">
            <a:avLst/>
          </a:prstGeom>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normAutofit/>
          </a:bodyPr>
          <a:lstStyle/>
          <a:p>
            <a:pPr algn="just"/>
            <a:r>
              <a:rPr lang="en-US" sz="2000" b="1" dirty="0">
                <a:latin typeface="Times New Roman" panose="02020603050405020304" pitchFamily="18" charset="0"/>
              </a:rPr>
              <a:t>Software: </a:t>
            </a:r>
          </a:p>
          <a:p>
            <a:pPr marL="514350" indent="-514350" algn="just">
              <a:buFont typeface="+mj-lt"/>
              <a:buAutoNum type="romanUcPeriod"/>
            </a:pPr>
            <a:r>
              <a:rPr lang="en-US" sz="2000" b="1" dirty="0">
                <a:latin typeface="Times New Roman" panose="02020603050405020304" pitchFamily="18" charset="0"/>
              </a:rPr>
              <a:t>UiPath Studio</a:t>
            </a:r>
            <a:r>
              <a:rPr lang="en-US" sz="2000" dirty="0">
                <a:latin typeface="Times New Roman" panose="02020603050405020304" pitchFamily="18" charset="0"/>
              </a:rPr>
              <a:t> for building and automating the bot workflows.</a:t>
            </a:r>
          </a:p>
          <a:p>
            <a:pPr marL="514350" indent="-514350" algn="just">
              <a:buFont typeface="+mj-lt"/>
              <a:buAutoNum type="romanUcPeriod"/>
            </a:pPr>
            <a:r>
              <a:rPr lang="en-IN" sz="2000" b="1" dirty="0">
                <a:latin typeface="Times New Roman" panose="02020603050405020304" pitchFamily="18" charset="0"/>
              </a:rPr>
              <a:t>WhatsApp Web</a:t>
            </a:r>
            <a:r>
              <a:rPr lang="en-IN" sz="2000" dirty="0">
                <a:latin typeface="Times New Roman" panose="02020603050405020304" pitchFamily="18" charset="0"/>
              </a:rPr>
              <a:t> for message delivery.</a:t>
            </a:r>
            <a:endParaRPr lang="en-US" sz="2000" dirty="0">
              <a:latin typeface="Times New Roman" panose="02020603050405020304" pitchFamily="18" charset="0"/>
            </a:endParaRPr>
          </a:p>
          <a:p>
            <a:pPr marL="514350" indent="-514350" algn="just">
              <a:buFont typeface="+mj-lt"/>
              <a:buAutoNum type="romanUcPeriod"/>
            </a:pPr>
            <a:r>
              <a:rPr lang="en-US" sz="2000" b="1" dirty="0">
                <a:latin typeface="Times New Roman" panose="02020603050405020304" pitchFamily="18" charset="0"/>
              </a:rPr>
              <a:t>Windows OS</a:t>
            </a:r>
            <a:r>
              <a:rPr lang="en-US" sz="2000" dirty="0">
                <a:latin typeface="Times New Roman" panose="02020603050405020304" pitchFamily="18" charset="0"/>
              </a:rPr>
              <a:t> to run UiPath Studio and the bot.</a:t>
            </a:r>
          </a:p>
          <a:p>
            <a:pPr marL="0" indent="0" algn="just">
              <a:buNone/>
            </a:pPr>
            <a:endParaRPr lang="en-US" sz="2000" dirty="0">
              <a:latin typeface="Times New Roman" panose="02020603050405020304" pitchFamily="18" charset="0"/>
            </a:endParaRPr>
          </a:p>
          <a:p>
            <a:pPr algn="just"/>
            <a:r>
              <a:rPr lang="en-US" sz="2000" b="1" dirty="0">
                <a:latin typeface="Times New Roman" panose="02020603050405020304" pitchFamily="18" charset="0"/>
              </a:rPr>
              <a:t>Hardware:</a:t>
            </a:r>
          </a:p>
          <a:p>
            <a:pPr marL="514350" indent="-514350" algn="just">
              <a:buFont typeface="+mj-lt"/>
              <a:buAutoNum type="romanUcPeriod"/>
            </a:pPr>
            <a:r>
              <a:rPr lang="en-US" sz="2000" b="1" dirty="0">
                <a:latin typeface="Times New Roman" panose="02020603050405020304" pitchFamily="18" charset="0"/>
              </a:rPr>
              <a:t>Processor</a:t>
            </a:r>
            <a:r>
              <a:rPr lang="en-US" sz="2000" dirty="0">
                <a:latin typeface="Times New Roman" panose="02020603050405020304" pitchFamily="18" charset="0"/>
              </a:rPr>
              <a:t>: Intel i3 or higher.</a:t>
            </a:r>
            <a:endParaRPr lang="en-US" sz="2000" b="1" dirty="0">
              <a:latin typeface="Times New Roman" panose="02020603050405020304" pitchFamily="18" charset="0"/>
            </a:endParaRPr>
          </a:p>
          <a:p>
            <a:pPr marL="514350" indent="-514350" algn="just">
              <a:buFont typeface="+mj-lt"/>
              <a:buAutoNum type="romanUcPeriod"/>
            </a:pPr>
            <a:r>
              <a:rPr lang="en-IN" sz="2000" b="1" dirty="0">
                <a:latin typeface="Times New Roman" panose="02020603050405020304" pitchFamily="18" charset="0"/>
              </a:rPr>
              <a:t>RAM</a:t>
            </a:r>
            <a:r>
              <a:rPr lang="en-IN" sz="2000" dirty="0">
                <a:latin typeface="Times New Roman" panose="02020603050405020304" pitchFamily="18" charset="0"/>
              </a:rPr>
              <a:t>: Minimum 4GB.</a:t>
            </a:r>
            <a:endParaRPr lang="en-US" sz="2000" b="1" dirty="0">
              <a:latin typeface="Times New Roman" panose="02020603050405020304" pitchFamily="18" charset="0"/>
            </a:endParaRPr>
          </a:p>
          <a:p>
            <a:pPr marL="514350" indent="-514350" algn="just">
              <a:buFont typeface="+mj-lt"/>
              <a:buAutoNum type="romanUcPeriod"/>
            </a:pPr>
            <a:r>
              <a:rPr lang="en-US" sz="2000" b="1" dirty="0">
                <a:latin typeface="Times New Roman" panose="02020603050405020304" pitchFamily="18" charset="0"/>
              </a:rPr>
              <a:t>Storage</a:t>
            </a:r>
            <a:r>
              <a:rPr lang="en-US" sz="2000" dirty="0">
                <a:latin typeface="Times New Roman" panose="02020603050405020304" pitchFamily="18" charset="0"/>
              </a:rPr>
              <a:t>: 1GB of free disk space for software and bot files.</a:t>
            </a:r>
            <a:endParaRPr lang="en-US" sz="2000" b="1" dirty="0">
              <a:latin typeface="Times New Roman" panose="02020603050405020304" pitchFamily="18" charset="0"/>
            </a:endParaRPr>
          </a:p>
          <a:p>
            <a:pPr marL="514350" indent="-514350" algn="just">
              <a:buFont typeface="+mj-lt"/>
              <a:buAutoNum type="romanUcPeriod"/>
            </a:pPr>
            <a:r>
              <a:rPr lang="en-US" sz="2000" b="1" dirty="0">
                <a:latin typeface="Times New Roman" panose="02020603050405020304" pitchFamily="18" charset="0"/>
              </a:rPr>
              <a:t>Internet Connection</a:t>
            </a:r>
            <a:r>
              <a:rPr lang="en-US" sz="2000" dirty="0">
                <a:latin typeface="Times New Roman" panose="02020603050405020304" pitchFamily="18" charset="0"/>
              </a:rPr>
              <a:t>: Stable connection for WhatsApp and bot functionality.</a:t>
            </a:r>
            <a:endParaRPr lang="en-US" sz="2000" b="1" dirty="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a:xfrm>
            <a:off x="-34967" y="800708"/>
            <a:ext cx="4210923" cy="3139321"/>
          </a:xfrm>
        </p:spPr>
        <p:txBody>
          <a:bodyPr/>
          <a:lstStyle/>
          <a:p>
            <a:pPr algn="just">
              <a:lnSpc>
                <a:spcPct val="150000"/>
              </a:lnSpc>
            </a:pPr>
            <a:r>
              <a:rPr lang="en-US" sz="1800" b="1" dirty="0">
                <a:latin typeface="Times New Roman" panose="02020603050405020304" pitchFamily="18" charset="0"/>
              </a:rPr>
              <a:t>Name of the Module 1: </a:t>
            </a:r>
            <a:r>
              <a:rPr lang="en-US" sz="1800" dirty="0">
                <a:latin typeface="Times New Roman" panose="02020603050405020304" pitchFamily="18" charset="0"/>
              </a:rPr>
              <a:t>Message Scheduling</a:t>
            </a:r>
          </a:p>
          <a:p>
            <a:pPr lvl="1" algn="just">
              <a:lnSpc>
                <a:spcPct val="150000"/>
              </a:lnSpc>
            </a:pPr>
            <a:r>
              <a:rPr lang="en-US" sz="1800" b="1" dirty="0">
                <a:latin typeface="Times New Roman" panose="02020603050405020304" pitchFamily="18" charset="0"/>
              </a:rPr>
              <a:t>Short description: </a:t>
            </a:r>
            <a:r>
              <a:rPr lang="en-US" sz="1800" dirty="0">
                <a:latin typeface="Times New Roman" panose="02020603050405020304" pitchFamily="18" charset="0"/>
              </a:rPr>
              <a:t>Automates scheduling and sending WhatsApp messages.</a:t>
            </a:r>
            <a:endParaRPr lang="en-US" sz="1800" b="1" dirty="0">
              <a:latin typeface="Times New Roman" panose="02020603050405020304" pitchFamily="18" charset="0"/>
            </a:endParaRPr>
          </a:p>
          <a:p>
            <a:pPr algn="just"/>
            <a:r>
              <a:rPr lang="en-US" sz="1800" b="1" dirty="0">
                <a:latin typeface="Times New Roman" panose="02020603050405020304" pitchFamily="18" charset="0"/>
              </a:rPr>
              <a:t>DFD / Activity Diagram:</a:t>
            </a:r>
          </a:p>
          <a:p>
            <a:pPr marL="0" indent="0">
              <a:buNone/>
            </a:pPr>
            <a:r>
              <a:rPr lang="en-US" sz="2000" b="1" dirty="0"/>
              <a:t>  </a:t>
            </a:r>
          </a:p>
        </p:txBody>
      </p:sp>
      <p:pic>
        <p:nvPicPr>
          <p:cNvPr id="5" name="Picture 4">
            <a:extLst>
              <a:ext uri="{FF2B5EF4-FFF2-40B4-BE49-F238E27FC236}">
                <a16:creationId xmlns:a16="http://schemas.microsoft.com/office/drawing/2014/main" id="{888AEE63-9615-DF00-68A1-2EC9868BE67B}"/>
              </a:ext>
            </a:extLst>
          </p:cNvPr>
          <p:cNvPicPr>
            <a:picLocks noChangeAspect="1"/>
          </p:cNvPicPr>
          <p:nvPr/>
        </p:nvPicPr>
        <p:blipFill>
          <a:blip r:embed="rId4"/>
          <a:stretch>
            <a:fillRect/>
          </a:stretch>
        </p:blipFill>
        <p:spPr>
          <a:xfrm>
            <a:off x="492713" y="3429000"/>
            <a:ext cx="2644369" cy="3000413"/>
          </a:xfrm>
          <a:prstGeom prst="rect">
            <a:avLst/>
          </a:prstGeom>
        </p:spPr>
      </p:pic>
      <p:sp>
        <p:nvSpPr>
          <p:cNvPr id="6" name="TextBox 5">
            <a:extLst>
              <a:ext uri="{FF2B5EF4-FFF2-40B4-BE49-F238E27FC236}">
                <a16:creationId xmlns:a16="http://schemas.microsoft.com/office/drawing/2014/main" id="{0A5FA0A5-A61C-1D6E-DDDA-8103A366BCBA}"/>
              </a:ext>
            </a:extLst>
          </p:cNvPr>
          <p:cNvSpPr txBox="1"/>
          <p:nvPr/>
        </p:nvSpPr>
        <p:spPr>
          <a:xfrm>
            <a:off x="4703635" y="812978"/>
            <a:ext cx="4411399" cy="397031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Name of the Module 2: </a:t>
            </a:r>
            <a:r>
              <a:rPr lang="en-US" dirty="0">
                <a:latin typeface="Times New Roman" panose="02020603050405020304" pitchFamily="18" charset="0"/>
                <a:cs typeface="Times New Roman" panose="02020603050405020304" pitchFamily="18" charset="0"/>
              </a:rPr>
              <a:t>Contact Search and Message Delivery.</a:t>
            </a:r>
          </a:p>
          <a:p>
            <a:pPr marL="742950" lvl="1" indent="-285750" algn="just">
              <a:lnSpc>
                <a:spcPct val="15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Short description: </a:t>
            </a:r>
            <a:r>
              <a:rPr lang="en-US" dirty="0">
                <a:latin typeface="Times New Roman" panose="02020603050405020304" pitchFamily="18" charset="0"/>
                <a:cs typeface="Times New Roman" panose="02020603050405020304" pitchFamily="18" charset="0"/>
              </a:rPr>
              <a:t>Searches for contacts and sends messages automatically.</a:t>
            </a:r>
            <a:endParaRPr lang="en-US" sz="1800" b="1" dirty="0">
              <a:latin typeface="Times New Roman" panose="02020603050405020304" pitchFamily="18" charset="0"/>
              <a:cs typeface="Times New Roman" panose="02020603050405020304" pitchFamily="18" charset="0"/>
            </a:endParaRPr>
          </a:p>
          <a:p>
            <a:pPr algn="just">
              <a:lnSpc>
                <a:spcPct val="150000"/>
              </a:lnSpc>
            </a:pPr>
            <a:r>
              <a:rPr lang="en-US" sz="1800" b="1" dirty="0">
                <a:latin typeface="Times New Roman" panose="02020603050405020304" pitchFamily="18" charset="0"/>
                <a:cs typeface="Times New Roman" panose="02020603050405020304" pitchFamily="18" charset="0"/>
              </a:rPr>
              <a:t>DFD / Activity Diagram:</a:t>
            </a:r>
          </a:p>
          <a:p>
            <a:endParaRPr lang="en-US" sz="1800" b="1" dirty="0">
              <a:latin typeface="+mj-lt"/>
            </a:endParaRPr>
          </a:p>
          <a:p>
            <a:pPr marL="285750" indent="-285750">
              <a:buFont typeface="Wingdings" panose="05000000000000000000" pitchFamily="2" charset="2"/>
              <a:buChar char="§"/>
            </a:pPr>
            <a:endParaRPr lang="en-US" dirty="0">
              <a:latin typeface="+mj-lt"/>
            </a:endParaRPr>
          </a:p>
          <a:p>
            <a:pPr marL="285750" indent="-285750">
              <a:buFont typeface="Wingdings" panose="05000000000000000000" pitchFamily="2" charset="2"/>
              <a:buChar char="§"/>
            </a:pPr>
            <a:endParaRPr lang="en-US" dirty="0">
              <a:latin typeface="+mj-lt"/>
            </a:endParaRPr>
          </a:p>
          <a:p>
            <a:endParaRPr lang="en-US" dirty="0">
              <a:latin typeface="+mj-lt"/>
            </a:endParaRPr>
          </a:p>
          <a:p>
            <a:endParaRPr lang="en-IN" dirty="0">
              <a:latin typeface="+mj-lt"/>
            </a:endParaRPr>
          </a:p>
        </p:txBody>
      </p:sp>
      <p:pic>
        <p:nvPicPr>
          <p:cNvPr id="8" name="Picture 7">
            <a:extLst>
              <a:ext uri="{FF2B5EF4-FFF2-40B4-BE49-F238E27FC236}">
                <a16:creationId xmlns:a16="http://schemas.microsoft.com/office/drawing/2014/main" id="{6C7E3437-57DE-1E11-53FF-718615AD4256}"/>
              </a:ext>
            </a:extLst>
          </p:cNvPr>
          <p:cNvPicPr>
            <a:picLocks noChangeAspect="1"/>
          </p:cNvPicPr>
          <p:nvPr/>
        </p:nvPicPr>
        <p:blipFill>
          <a:blip r:embed="rId5"/>
          <a:stretch>
            <a:fillRect/>
          </a:stretch>
        </p:blipFill>
        <p:spPr>
          <a:xfrm>
            <a:off x="5436096" y="3290092"/>
            <a:ext cx="1775614" cy="3139321"/>
          </a:xfrm>
          <a:prstGeom prst="rect">
            <a:avLst/>
          </a:prstGeom>
        </p:spPr>
      </p:pic>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Design</a:t>
            </a:r>
            <a:endParaRPr lang="en-IN" dirty="0">
              <a:latin typeface="+mj-lt"/>
            </a:endParaRPr>
          </a:p>
        </p:txBody>
      </p:sp>
      <p:sp>
        <p:nvSpPr>
          <p:cNvPr id="3" name="Content Placeholder 2"/>
          <p:cNvSpPr>
            <a:spLocks noGrp="1"/>
          </p:cNvSpPr>
          <p:nvPr>
            <p:ph idx="1"/>
          </p:nvPr>
        </p:nvSpPr>
        <p:spPr/>
        <p:txBody>
          <a:bodyPr/>
          <a:lstStyle/>
          <a:p>
            <a:r>
              <a:rPr lang="en-US" b="1" dirty="0">
                <a:latin typeface="Times New Roman" panose="02020603050405020304" pitchFamily="18" charset="0"/>
              </a:rPr>
              <a:t>ER Diagram: </a:t>
            </a:r>
          </a:p>
          <a:p>
            <a:pPr marL="0" indent="0">
              <a:buNone/>
            </a:pPr>
            <a:endParaRPr lang="en-US" b="1" dirty="0"/>
          </a:p>
        </p:txBody>
      </p:sp>
      <p:pic>
        <p:nvPicPr>
          <p:cNvPr id="5" name="Picture 4">
            <a:extLst>
              <a:ext uri="{FF2B5EF4-FFF2-40B4-BE49-F238E27FC236}">
                <a16:creationId xmlns:a16="http://schemas.microsoft.com/office/drawing/2014/main" id="{E8CD192C-E8F5-8C66-53E5-3ECB64EB9052}"/>
              </a:ext>
            </a:extLst>
          </p:cNvPr>
          <p:cNvPicPr>
            <a:picLocks noChangeAspect="1"/>
          </p:cNvPicPr>
          <p:nvPr/>
        </p:nvPicPr>
        <p:blipFill rotWithShape="1">
          <a:blip r:embed="rId4"/>
          <a:srcRect l="17949" t="483" r="16410" b="2734"/>
          <a:stretch/>
        </p:blipFill>
        <p:spPr>
          <a:xfrm>
            <a:off x="2663788" y="1392786"/>
            <a:ext cx="2592288" cy="5004556"/>
          </a:xfrm>
          <a:prstGeom prst="rect">
            <a:avLst/>
          </a:prstGeom>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rPr>
              <a:t>Main Process:</a:t>
            </a:r>
          </a:p>
          <a:p>
            <a:pPr marL="457200" indent="-457200" algn="just">
              <a:buFont typeface="+mj-lt"/>
              <a:buAutoNum type="arabicParenR"/>
            </a:pPr>
            <a:r>
              <a:rPr lang="en-US" dirty="0">
                <a:latin typeface="Times New Roman" panose="02020603050405020304" pitchFamily="18" charset="0"/>
              </a:rPr>
              <a:t> User inputs contact information (name/phone number), message, date, and time for scheduling.    </a:t>
            </a:r>
          </a:p>
          <a:p>
            <a:pPr marL="457200" indent="-457200" algn="just">
              <a:buFont typeface="+mj-lt"/>
              <a:buAutoNum type="arabicParenR"/>
            </a:pPr>
            <a:r>
              <a:rPr lang="en-US" dirty="0">
                <a:latin typeface="Times New Roman" panose="02020603050405020304" pitchFamily="18" charset="0"/>
              </a:rPr>
              <a:t>The bot verifies the information, searches for the contact, and schedules the message to be sent at the specified time.  </a:t>
            </a:r>
          </a:p>
          <a:p>
            <a:pPr algn="just"/>
            <a:r>
              <a:rPr lang="en-US" dirty="0">
                <a:latin typeface="Times New Roman" panose="02020603050405020304" pitchFamily="18" charset="0"/>
              </a:rPr>
              <a:t>Sub Process:</a:t>
            </a:r>
          </a:p>
          <a:p>
            <a:pPr marL="457200" indent="-457200" algn="just">
              <a:buFont typeface="+mj-lt"/>
              <a:buAutoNum type="arabicParenR"/>
            </a:pPr>
            <a:r>
              <a:rPr lang="en-US" dirty="0">
                <a:latin typeface="Times New Roman" panose="02020603050405020304" pitchFamily="18" charset="0"/>
              </a:rPr>
              <a:t>Collecting user input (contact, message, time).</a:t>
            </a:r>
          </a:p>
          <a:p>
            <a:pPr marL="457200" indent="-457200" algn="just">
              <a:buFont typeface="+mj-lt"/>
              <a:buAutoNum type="arabicParenR"/>
            </a:pPr>
            <a:r>
              <a:rPr lang="en-IN" dirty="0">
                <a:latin typeface="Times New Roman" panose="02020603050405020304" pitchFamily="18" charset="0"/>
              </a:rPr>
              <a:t>Validating and storing data.</a:t>
            </a:r>
            <a:endParaRPr lang="en-US" dirty="0">
              <a:latin typeface="Times New Roman" panose="02020603050405020304" pitchFamily="18" charset="0"/>
            </a:endParaRPr>
          </a:p>
          <a:p>
            <a:pPr marL="457200" indent="-457200" algn="just">
              <a:buFont typeface="+mj-lt"/>
              <a:buAutoNum type="arabicParenR"/>
            </a:pPr>
            <a:r>
              <a:rPr lang="en-US" dirty="0">
                <a:latin typeface="Times New Roman" panose="02020603050405020304" pitchFamily="18" charset="0"/>
              </a:rPr>
              <a:t>Searching for the contact on WhatsApp and scheduling the message.</a:t>
            </a:r>
          </a:p>
        </p:txBody>
      </p:sp>
    </p:spTree>
    <p:custDataLst>
      <p:tags r:id="rId1"/>
    </p:custDataLst>
    <p:extLst>
      <p:ext uri="{BB962C8B-B14F-4D97-AF65-F5344CB8AC3E}">
        <p14:creationId xmlns:p14="http://schemas.microsoft.com/office/powerpoint/2010/main" val="3023427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p:cNvSpPr>
            <a:spLocks noGrp="1"/>
          </p:cNvSpPr>
          <p:nvPr>
            <p:ph idx="1"/>
          </p:nvPr>
        </p:nvSpPr>
        <p:spPr/>
        <p:txBody>
          <a:bodyPr>
            <a:normAutofit/>
          </a:bodyPr>
          <a:lstStyle/>
          <a:p>
            <a:pPr algn="just"/>
            <a:r>
              <a:rPr lang="en-IN" sz="1800" b="1" dirty="0">
                <a:latin typeface="Times New Roman" panose="02020603050405020304" pitchFamily="18" charset="0"/>
              </a:rPr>
              <a:t>Module 1: User Input Collection</a:t>
            </a:r>
            <a:endParaRPr lang="en-US" sz="1800" b="1" dirty="0">
              <a:latin typeface="Times New Roman" panose="02020603050405020304" pitchFamily="18" charset="0"/>
            </a:endParaRPr>
          </a:p>
          <a:p>
            <a:pPr lvl="1" algn="just"/>
            <a:r>
              <a:rPr lang="en-US" sz="1800" dirty="0">
                <a:latin typeface="Times New Roman" panose="02020603050405020304" pitchFamily="18" charset="0"/>
              </a:rPr>
              <a:t>Captures user inputs for contact details, message content, scheduled date, and time using prompts.</a:t>
            </a:r>
          </a:p>
          <a:p>
            <a:pPr marL="0" indent="0" algn="just">
              <a:buNone/>
            </a:pPr>
            <a:endParaRPr lang="en-US" dirty="0">
              <a:latin typeface="Times New Roman" panose="02020603050405020304" pitchFamily="18" charset="0"/>
            </a:endParaRPr>
          </a:p>
          <a:p>
            <a:pPr marL="0" indent="0" algn="just">
              <a:buNone/>
            </a:pPr>
            <a:endParaRPr lang="en-US" dirty="0">
              <a:latin typeface="Times New Roman" panose="02020603050405020304" pitchFamily="18" charset="0"/>
            </a:endParaRPr>
          </a:p>
          <a:p>
            <a:pPr marL="0" indent="0" algn="just">
              <a:buNone/>
            </a:pPr>
            <a:endParaRPr lang="en-US" dirty="0">
              <a:latin typeface="Times New Roman" panose="02020603050405020304" pitchFamily="18" charset="0"/>
            </a:endParaRPr>
          </a:p>
          <a:p>
            <a:pPr marL="0" indent="0" algn="just">
              <a:buNone/>
            </a:pPr>
            <a:endParaRPr lang="en-US" dirty="0">
              <a:latin typeface="Times New Roman" panose="02020603050405020304" pitchFamily="18" charset="0"/>
            </a:endParaRPr>
          </a:p>
          <a:p>
            <a:pPr algn="just"/>
            <a:r>
              <a:rPr lang="en-US" sz="1800" b="1" dirty="0">
                <a:latin typeface="Times New Roman" panose="02020603050405020304" pitchFamily="18" charset="0"/>
              </a:rPr>
              <a:t>Module 2: Contact Search &amp; Validation</a:t>
            </a:r>
          </a:p>
          <a:p>
            <a:pPr lvl="1" algn="just"/>
            <a:r>
              <a:rPr lang="en-US" sz="1800" dirty="0">
                <a:latin typeface="Times New Roman" panose="02020603050405020304" pitchFamily="18" charset="0"/>
              </a:rPr>
              <a:t>Automates searching for the specified contact on WhatsApp to validate its existence before scheduling the message.</a:t>
            </a:r>
          </a:p>
          <a:p>
            <a:pPr marL="0" indent="0">
              <a:buNone/>
            </a:pPr>
            <a:endParaRPr lang="en-US" sz="1800" dirty="0"/>
          </a:p>
          <a:p>
            <a:endParaRPr lang="en-US" dirty="0"/>
          </a:p>
        </p:txBody>
      </p:sp>
      <p:pic>
        <p:nvPicPr>
          <p:cNvPr id="4" name="Picture 3">
            <a:extLst>
              <a:ext uri="{FF2B5EF4-FFF2-40B4-BE49-F238E27FC236}">
                <a16:creationId xmlns:a16="http://schemas.microsoft.com/office/drawing/2014/main" id="{CBBBD97B-B136-A537-22DA-FE6AF354BA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2727" y="2024844"/>
            <a:ext cx="2079033" cy="1330893"/>
          </a:xfrm>
          <a:prstGeom prst="rect">
            <a:avLst/>
          </a:prstGeom>
        </p:spPr>
      </p:pic>
      <p:pic>
        <p:nvPicPr>
          <p:cNvPr id="5" name="Picture 4">
            <a:extLst>
              <a:ext uri="{FF2B5EF4-FFF2-40B4-BE49-F238E27FC236}">
                <a16:creationId xmlns:a16="http://schemas.microsoft.com/office/drawing/2014/main" id="{46DCCC10-D534-93C7-0256-8118DD7DD5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81561" y="2024844"/>
            <a:ext cx="2079034" cy="1330893"/>
          </a:xfrm>
          <a:prstGeom prst="rect">
            <a:avLst/>
          </a:prstGeom>
        </p:spPr>
      </p:pic>
      <p:pic>
        <p:nvPicPr>
          <p:cNvPr id="6" name="Picture 5">
            <a:extLst>
              <a:ext uri="{FF2B5EF4-FFF2-40B4-BE49-F238E27FC236}">
                <a16:creationId xmlns:a16="http://schemas.microsoft.com/office/drawing/2014/main" id="{34876DF8-A900-5DE9-B5C2-B40A5D61795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30396" y="2039440"/>
            <a:ext cx="2079033" cy="1294261"/>
          </a:xfrm>
          <a:prstGeom prst="rect">
            <a:avLst/>
          </a:prstGeom>
        </p:spPr>
      </p:pic>
      <p:pic>
        <p:nvPicPr>
          <p:cNvPr id="7" name="Picture 6">
            <a:extLst>
              <a:ext uri="{FF2B5EF4-FFF2-40B4-BE49-F238E27FC236}">
                <a16:creationId xmlns:a16="http://schemas.microsoft.com/office/drawing/2014/main" id="{19A0ED98-231E-92D2-1857-C95F5EC03BE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64390" y="2039440"/>
            <a:ext cx="2190260" cy="1221199"/>
          </a:xfrm>
          <a:prstGeom prst="rect">
            <a:avLst/>
          </a:prstGeom>
        </p:spPr>
      </p:pic>
      <p:pic>
        <p:nvPicPr>
          <p:cNvPr id="9" name="Picture 8">
            <a:extLst>
              <a:ext uri="{FF2B5EF4-FFF2-40B4-BE49-F238E27FC236}">
                <a16:creationId xmlns:a16="http://schemas.microsoft.com/office/drawing/2014/main" id="{01877B76-34C6-5442-C86F-A44034E44820}"/>
              </a:ext>
            </a:extLst>
          </p:cNvPr>
          <p:cNvPicPr>
            <a:picLocks noChangeAspect="1"/>
          </p:cNvPicPr>
          <p:nvPr/>
        </p:nvPicPr>
        <p:blipFill>
          <a:blip r:embed="rId8"/>
          <a:stretch>
            <a:fillRect/>
          </a:stretch>
        </p:blipFill>
        <p:spPr>
          <a:xfrm>
            <a:off x="683568" y="5193196"/>
            <a:ext cx="1806097" cy="541225"/>
          </a:xfrm>
          <a:prstGeom prst="rect">
            <a:avLst/>
          </a:prstGeom>
        </p:spPr>
      </p:pic>
      <p:pic>
        <p:nvPicPr>
          <p:cNvPr id="10" name="Picture 9">
            <a:extLst>
              <a:ext uri="{FF2B5EF4-FFF2-40B4-BE49-F238E27FC236}">
                <a16:creationId xmlns:a16="http://schemas.microsoft.com/office/drawing/2014/main" id="{264717C5-58FF-2269-1F94-D9CAEB8B8F8C}"/>
              </a:ext>
            </a:extLst>
          </p:cNvPr>
          <p:cNvPicPr>
            <a:picLocks noChangeAspect="1"/>
          </p:cNvPicPr>
          <p:nvPr/>
        </p:nvPicPr>
        <p:blipFill>
          <a:blip r:embed="rId9"/>
          <a:stretch>
            <a:fillRect/>
          </a:stretch>
        </p:blipFill>
        <p:spPr>
          <a:xfrm>
            <a:off x="4031940" y="5193196"/>
            <a:ext cx="2162436" cy="762066"/>
          </a:xfrm>
          <a:prstGeom prst="rect">
            <a:avLst/>
          </a:prstGeom>
        </p:spPr>
      </p:pic>
    </p:spTree>
    <p:custDataLst>
      <p:tags r:id="rId1"/>
    </p:custDataLst>
    <p:extLst>
      <p:ext uri="{BB962C8B-B14F-4D97-AF65-F5344CB8AC3E}">
        <p14:creationId xmlns:p14="http://schemas.microsoft.com/office/powerpoint/2010/main" val="1769472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rPr>
              <a:t>Verify the bot's functionality by inputting various phone numbers, messages, dates, and times to ensure accurate scheduling and delivery of WhatsApp messages as per user-defined parameters.</a:t>
            </a:r>
          </a:p>
          <a:p>
            <a:pPr algn="just"/>
            <a:r>
              <a:rPr lang="en-US" dirty="0">
                <a:latin typeface="Times New Roman" panose="02020603050405020304" pitchFamily="18" charset="0"/>
              </a:rPr>
              <a:t>Screen shots</a:t>
            </a:r>
          </a:p>
          <a:p>
            <a:endParaRPr lang="en-US" dirty="0"/>
          </a:p>
        </p:txBody>
      </p:sp>
      <p:pic>
        <p:nvPicPr>
          <p:cNvPr id="5" name="Picture 4">
            <a:extLst>
              <a:ext uri="{FF2B5EF4-FFF2-40B4-BE49-F238E27FC236}">
                <a16:creationId xmlns:a16="http://schemas.microsoft.com/office/drawing/2014/main" id="{06BF1898-A5D0-84DD-514C-3CCE63380E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905" y="2960949"/>
            <a:ext cx="2714911" cy="1512167"/>
          </a:xfrm>
          <a:prstGeom prst="rect">
            <a:avLst/>
          </a:prstGeom>
        </p:spPr>
      </p:pic>
      <p:pic>
        <p:nvPicPr>
          <p:cNvPr id="7" name="Picture 6">
            <a:extLst>
              <a:ext uri="{FF2B5EF4-FFF2-40B4-BE49-F238E27FC236}">
                <a16:creationId xmlns:a16="http://schemas.microsoft.com/office/drawing/2014/main" id="{B76CDF12-7CE1-E7C9-AD97-45ADF6CE9D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11860" y="2892611"/>
            <a:ext cx="2714911" cy="1580505"/>
          </a:xfrm>
          <a:prstGeom prst="rect">
            <a:avLst/>
          </a:prstGeom>
        </p:spPr>
      </p:pic>
      <p:pic>
        <p:nvPicPr>
          <p:cNvPr id="9" name="Picture 8">
            <a:extLst>
              <a:ext uri="{FF2B5EF4-FFF2-40B4-BE49-F238E27FC236}">
                <a16:creationId xmlns:a16="http://schemas.microsoft.com/office/drawing/2014/main" id="{B688ADAD-6B1B-B766-5084-9BAFBC6016D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69596" y="2881646"/>
            <a:ext cx="2446015" cy="1591470"/>
          </a:xfrm>
          <a:prstGeom prst="rect">
            <a:avLst/>
          </a:prstGeom>
        </p:spPr>
      </p:pic>
      <p:pic>
        <p:nvPicPr>
          <p:cNvPr id="11" name="Picture 10">
            <a:extLst>
              <a:ext uri="{FF2B5EF4-FFF2-40B4-BE49-F238E27FC236}">
                <a16:creationId xmlns:a16="http://schemas.microsoft.com/office/drawing/2014/main" id="{EE77432F-2C09-1877-BC97-98CBE730DF6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9818" y="4744094"/>
            <a:ext cx="2640323" cy="1580506"/>
          </a:xfrm>
          <a:prstGeom prst="rect">
            <a:avLst/>
          </a:prstGeom>
        </p:spPr>
      </p:pic>
      <p:pic>
        <p:nvPicPr>
          <p:cNvPr id="13" name="Picture 12">
            <a:extLst>
              <a:ext uri="{FF2B5EF4-FFF2-40B4-BE49-F238E27FC236}">
                <a16:creationId xmlns:a16="http://schemas.microsoft.com/office/drawing/2014/main" id="{0AA9E5CD-84BA-C4AC-BAF6-241225CD4C9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307537" y="4753771"/>
            <a:ext cx="2916324" cy="1609391"/>
          </a:xfrm>
          <a:prstGeom prst="rect">
            <a:avLst/>
          </a:prstGeom>
        </p:spPr>
      </p:pic>
      <p:pic>
        <p:nvPicPr>
          <p:cNvPr id="15" name="Picture 14">
            <a:extLst>
              <a:ext uri="{FF2B5EF4-FFF2-40B4-BE49-F238E27FC236}">
                <a16:creationId xmlns:a16="http://schemas.microsoft.com/office/drawing/2014/main" id="{DCF24C80-9368-14D8-72DD-04E98DF6E11C}"/>
              </a:ext>
            </a:extLst>
          </p:cNvPr>
          <p:cNvPicPr>
            <a:picLocks noChangeAspect="1"/>
          </p:cNvPicPr>
          <p:nvPr/>
        </p:nvPicPr>
        <p:blipFill>
          <a:blip r:embed="rId9"/>
          <a:stretch>
            <a:fillRect/>
          </a:stretch>
        </p:blipFill>
        <p:spPr>
          <a:xfrm>
            <a:off x="6611257" y="5153314"/>
            <a:ext cx="2162436" cy="762066"/>
          </a:xfrm>
          <a:prstGeom prst="rect">
            <a:avLst/>
          </a:prstGeom>
        </p:spPr>
      </p:pic>
    </p:spTree>
    <p:custDataLst>
      <p:tags r:id="rId1"/>
    </p:custDataLst>
    <p:extLst>
      <p:ext uri="{BB962C8B-B14F-4D97-AF65-F5344CB8AC3E}">
        <p14:creationId xmlns:p14="http://schemas.microsoft.com/office/powerpoint/2010/main" val="1921327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lstStyle/>
          <a:p>
            <a:pPr algn="just">
              <a:lnSpc>
                <a:spcPct val="150000"/>
              </a:lnSpc>
            </a:pPr>
            <a:r>
              <a:rPr lang="en-US" dirty="0">
                <a:latin typeface="Times New Roman" panose="02020603050405020304" pitchFamily="18" charset="0"/>
              </a:rPr>
              <a:t>In conclusion, the WhatsApp Bot effectively automates the scheduling and delivery of messages, ensuring timely communication without manual intervention. By reducing repetitive tasks, it enhances productivity and streamlines messaging management. This solution offers a reliable, efficient tool for personal and business use, optimizing message delivery processes.</a:t>
            </a:r>
          </a:p>
          <a:p>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lstStyle/>
          <a:p>
            <a:pPr algn="just">
              <a:lnSpc>
                <a:spcPct val="150000"/>
              </a:lnSpc>
            </a:pPr>
            <a:r>
              <a:rPr lang="en-US" b="1" dirty="0">
                <a:latin typeface="Times New Roman" panose="02020603050405020304" pitchFamily="18" charset="0"/>
              </a:rPr>
              <a:t>Description 1:</a:t>
            </a:r>
            <a:r>
              <a:rPr lang="en-US" dirty="0">
                <a:latin typeface="Times New Roman" panose="02020603050405020304" pitchFamily="18" charset="0"/>
              </a:rPr>
              <a:t> Integrating NLP could allow the bot to understand and personalize messages based on context, improving the user experience by making the bot more interactive.</a:t>
            </a:r>
          </a:p>
          <a:p>
            <a:pPr marL="0" indent="0" algn="just">
              <a:lnSpc>
                <a:spcPct val="150000"/>
              </a:lnSpc>
              <a:buNone/>
            </a:pPr>
            <a:endParaRPr lang="en-US" dirty="0">
              <a:latin typeface="Times New Roman" panose="02020603050405020304" pitchFamily="18" charset="0"/>
            </a:endParaRPr>
          </a:p>
          <a:p>
            <a:pPr algn="just">
              <a:lnSpc>
                <a:spcPct val="150000"/>
              </a:lnSpc>
            </a:pPr>
            <a:r>
              <a:rPr lang="en-US" b="1" dirty="0">
                <a:latin typeface="Times New Roman" panose="02020603050405020304" pitchFamily="18" charset="0"/>
              </a:rPr>
              <a:t>Description 2:</a:t>
            </a:r>
            <a:r>
              <a:rPr lang="en-US" dirty="0">
                <a:latin typeface="Times New Roman" panose="02020603050405020304" pitchFamily="18" charset="0"/>
              </a:rPr>
              <a:t> Adding multimedia support would enable sending various types of content, such as images or voice notes, making the system more versatile for both personal and business communications.</a:t>
            </a:r>
          </a:p>
          <a:p>
            <a:pPr algn="just"/>
            <a:endParaRPr lang="en-US" dirty="0">
              <a:latin typeface="Times New Roman" panose="02020603050405020304" pitchFamily="18" charset="0"/>
            </a:endParaRPr>
          </a:p>
          <a:p>
            <a:pPr algn="just"/>
            <a:endParaRPr lang="en-US" dirty="0">
              <a:latin typeface="Times New Roman" panose="02020603050405020304" pitchFamily="18" charset="0"/>
            </a:endParaRPr>
          </a:p>
          <a:p>
            <a:pPr algn="just"/>
            <a:endParaRPr lang="en-US" dirty="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IEEE Paper</a:t>
            </a:r>
            <a:endParaRPr lang="en-IN" dirty="0">
              <a:latin typeface="+mj-lt"/>
            </a:endParaRPr>
          </a:p>
        </p:txBody>
      </p:sp>
      <p:sp>
        <p:nvSpPr>
          <p:cNvPr id="3" name="Content Placeholder 2"/>
          <p:cNvSpPr>
            <a:spLocks noGrp="1"/>
          </p:cNvSpPr>
          <p:nvPr>
            <p:ph idx="1"/>
          </p:nvPr>
        </p:nvSpPr>
        <p:spPr/>
        <p:txBody>
          <a:bodyPr>
            <a:normAutofit fontScale="92500" lnSpcReduction="10000"/>
          </a:bodyPr>
          <a:lstStyle/>
          <a:p>
            <a:pPr algn="just">
              <a:lnSpc>
                <a:spcPct val="150000"/>
              </a:lnSpc>
            </a:pPr>
            <a:r>
              <a:rPr lang="en-US" b="1" dirty="0">
                <a:latin typeface="Times New Roman" panose="02020603050405020304" pitchFamily="18" charset="0"/>
              </a:rPr>
              <a:t>Title: </a:t>
            </a:r>
            <a:r>
              <a:rPr lang="en-US" sz="2400" i="0" dirty="0">
                <a:solidFill>
                  <a:srgbClr val="333333"/>
                </a:solidFill>
                <a:effectLst/>
                <a:latin typeface="Times New Roman" panose="02020603050405020304" pitchFamily="18" charset="0"/>
              </a:rPr>
              <a:t>Multi-Channel Chatbot and Robotic Process Automation</a:t>
            </a:r>
          </a:p>
          <a:p>
            <a:pPr marL="0" indent="0" algn="just">
              <a:lnSpc>
                <a:spcPct val="150000"/>
              </a:lnSpc>
              <a:buNone/>
            </a:pPr>
            <a:r>
              <a:rPr lang="en-US" sz="2400" dirty="0">
                <a:solidFill>
                  <a:srgbClr val="333333"/>
                </a:solidFill>
                <a:latin typeface="Times New Roman" panose="02020603050405020304" pitchFamily="18" charset="0"/>
              </a:rPr>
              <a:t>    </a:t>
            </a:r>
            <a:r>
              <a:rPr lang="en-US" sz="2400" b="1" dirty="0">
                <a:solidFill>
                  <a:srgbClr val="333333"/>
                </a:solidFill>
                <a:latin typeface="Times New Roman" panose="02020603050405020304" pitchFamily="18" charset="0"/>
              </a:rPr>
              <a:t>Authors: </a:t>
            </a:r>
            <a:r>
              <a:rPr lang="en-US" sz="2400" dirty="0">
                <a:solidFill>
                  <a:srgbClr val="333333"/>
                </a:solidFill>
                <a:latin typeface="Times New Roman" panose="02020603050405020304" pitchFamily="18" charset="0"/>
              </a:rPr>
              <a:t>Gota Dan; </a:t>
            </a:r>
            <a:r>
              <a:rPr lang="en-US" sz="2400" dirty="0" err="1">
                <a:solidFill>
                  <a:srgbClr val="333333"/>
                </a:solidFill>
                <a:latin typeface="Times New Roman" panose="02020603050405020304" pitchFamily="18" charset="0"/>
              </a:rPr>
              <a:t>Domuta</a:t>
            </a:r>
            <a:r>
              <a:rPr lang="en-US" sz="2400" dirty="0">
                <a:solidFill>
                  <a:srgbClr val="333333"/>
                </a:solidFill>
                <a:latin typeface="Times New Roman" panose="02020603050405020304" pitchFamily="18" charset="0"/>
              </a:rPr>
              <a:t> </a:t>
            </a:r>
            <a:r>
              <a:rPr lang="en-US" sz="2400" dirty="0" err="1">
                <a:solidFill>
                  <a:srgbClr val="333333"/>
                </a:solidFill>
                <a:latin typeface="Times New Roman" panose="02020603050405020304" pitchFamily="18" charset="0"/>
              </a:rPr>
              <a:t>Claudiu</a:t>
            </a:r>
            <a:r>
              <a:rPr lang="en-US" sz="2400" dirty="0">
                <a:solidFill>
                  <a:srgbClr val="333333"/>
                </a:solidFill>
                <a:latin typeface="Times New Roman" panose="02020603050405020304" pitchFamily="18" charset="0"/>
              </a:rPr>
              <a:t>; </a:t>
            </a:r>
            <a:r>
              <a:rPr lang="en-US" sz="2400" dirty="0" err="1">
                <a:solidFill>
                  <a:srgbClr val="333333"/>
                </a:solidFill>
                <a:latin typeface="Times New Roman" panose="02020603050405020304" pitchFamily="18" charset="0"/>
              </a:rPr>
              <a:t>Fanca</a:t>
            </a:r>
            <a:r>
              <a:rPr lang="en-US" sz="2400" dirty="0">
                <a:solidFill>
                  <a:srgbClr val="333333"/>
                </a:solidFill>
                <a:latin typeface="Times New Roman" panose="02020603050405020304" pitchFamily="18" charset="0"/>
              </a:rPr>
              <a:t> Alexandra; Pop-</a:t>
            </a:r>
            <a:r>
              <a:rPr lang="en-US" sz="2400" dirty="0" err="1">
                <a:solidFill>
                  <a:srgbClr val="333333"/>
                </a:solidFill>
                <a:latin typeface="Times New Roman" panose="02020603050405020304" pitchFamily="18" charset="0"/>
              </a:rPr>
              <a:t>Puscasiu</a:t>
            </a:r>
            <a:r>
              <a:rPr lang="en-US" sz="2400" dirty="0">
                <a:solidFill>
                  <a:srgbClr val="333333"/>
                </a:solidFill>
                <a:latin typeface="Times New Roman" panose="02020603050405020304" pitchFamily="18" charset="0"/>
              </a:rPr>
              <a:t> Adela; Stan Ovidiu; </a:t>
            </a:r>
            <a:r>
              <a:rPr lang="en-US" sz="2400" dirty="0" err="1">
                <a:solidFill>
                  <a:srgbClr val="333333"/>
                </a:solidFill>
                <a:latin typeface="Times New Roman" panose="02020603050405020304" pitchFamily="18" charset="0"/>
              </a:rPr>
              <a:t>Valean</a:t>
            </a:r>
            <a:r>
              <a:rPr lang="en-US" sz="2400" dirty="0">
                <a:solidFill>
                  <a:srgbClr val="333333"/>
                </a:solidFill>
                <a:latin typeface="Times New Roman" panose="02020603050405020304" pitchFamily="18" charset="0"/>
              </a:rPr>
              <a:t> </a:t>
            </a:r>
            <a:r>
              <a:rPr lang="en-US" sz="2400" dirty="0" err="1">
                <a:solidFill>
                  <a:srgbClr val="333333"/>
                </a:solidFill>
                <a:latin typeface="Times New Roman" panose="02020603050405020304" pitchFamily="18" charset="0"/>
              </a:rPr>
              <a:t>Honoriu</a:t>
            </a:r>
            <a:endParaRPr lang="en-US" sz="2400" dirty="0">
              <a:solidFill>
                <a:srgbClr val="333333"/>
              </a:solidFill>
              <a:latin typeface="Times New Roman" panose="02020603050405020304" pitchFamily="18" charset="0"/>
            </a:endParaRPr>
          </a:p>
          <a:p>
            <a:pPr marL="0" indent="0" algn="just">
              <a:lnSpc>
                <a:spcPct val="150000"/>
              </a:lnSpc>
              <a:buNone/>
            </a:pPr>
            <a:r>
              <a:rPr lang="en-US" sz="2400" b="1" i="0" dirty="0">
                <a:solidFill>
                  <a:srgbClr val="333333"/>
                </a:solidFill>
                <a:effectLst/>
                <a:latin typeface="Times New Roman" panose="02020603050405020304" pitchFamily="18" charset="0"/>
              </a:rPr>
              <a:t>    Publisher: </a:t>
            </a:r>
            <a:r>
              <a:rPr lang="en-US" sz="2400" i="0" dirty="0">
                <a:solidFill>
                  <a:srgbClr val="333333"/>
                </a:solidFill>
                <a:effectLst/>
                <a:latin typeface="Times New Roman" panose="02020603050405020304" pitchFamily="18" charset="0"/>
              </a:rPr>
              <a:t>IEEE</a:t>
            </a:r>
          </a:p>
          <a:p>
            <a:pPr marL="0" indent="0" algn="just">
              <a:lnSpc>
                <a:spcPct val="150000"/>
              </a:lnSpc>
              <a:buNone/>
            </a:pPr>
            <a:endParaRPr lang="en-US" dirty="0">
              <a:latin typeface="Times New Roman" panose="02020603050405020304" pitchFamily="18" charset="0"/>
            </a:endParaRPr>
          </a:p>
          <a:p>
            <a:pPr algn="just">
              <a:lnSpc>
                <a:spcPct val="150000"/>
              </a:lnSpc>
            </a:pPr>
            <a:r>
              <a:rPr lang="en-US" sz="2400" b="1" dirty="0">
                <a:latin typeface="Times New Roman" panose="02020603050405020304" pitchFamily="18" charset="0"/>
              </a:rPr>
              <a:t>Title: </a:t>
            </a:r>
            <a:r>
              <a:rPr lang="en-US" sz="2400" dirty="0">
                <a:latin typeface="Times New Roman" panose="02020603050405020304" pitchFamily="18" charset="0"/>
              </a:rPr>
              <a:t>Adopted Acceptance Test-Driven Development (ATDD) to produce Robotic Process Automation (RPA) for reducing teaching workload</a:t>
            </a:r>
          </a:p>
          <a:p>
            <a:pPr marL="0" indent="0" algn="just">
              <a:lnSpc>
                <a:spcPct val="150000"/>
              </a:lnSpc>
              <a:buNone/>
            </a:pPr>
            <a:r>
              <a:rPr lang="en-US" sz="2400" dirty="0">
                <a:latin typeface="Times New Roman" panose="02020603050405020304" pitchFamily="18" charset="0"/>
              </a:rPr>
              <a:t>     </a:t>
            </a:r>
            <a:r>
              <a:rPr lang="en-US" sz="2400" b="1" dirty="0">
                <a:latin typeface="Times New Roman" panose="02020603050405020304" pitchFamily="18" charset="0"/>
              </a:rPr>
              <a:t>Authors: </a:t>
            </a:r>
            <a:r>
              <a:rPr lang="en-US" sz="2400" dirty="0" err="1">
                <a:latin typeface="Times New Roman" panose="02020603050405020304" pitchFamily="18" charset="0"/>
              </a:rPr>
              <a:t>Nuttaporn</a:t>
            </a:r>
            <a:r>
              <a:rPr lang="en-US" sz="2400" dirty="0">
                <a:latin typeface="Times New Roman" panose="02020603050405020304" pitchFamily="18" charset="0"/>
              </a:rPr>
              <a:t> </a:t>
            </a:r>
            <a:r>
              <a:rPr lang="en-US" sz="2400" dirty="0" err="1">
                <a:latin typeface="Times New Roman" panose="02020603050405020304" pitchFamily="18" charset="0"/>
              </a:rPr>
              <a:t>Phakdee</a:t>
            </a:r>
            <a:r>
              <a:rPr lang="en-US" sz="2400" dirty="0">
                <a:latin typeface="Times New Roman" panose="02020603050405020304" pitchFamily="18" charset="0"/>
              </a:rPr>
              <a:t>; </a:t>
            </a:r>
            <a:r>
              <a:rPr lang="en-US" sz="2400" dirty="0" err="1">
                <a:latin typeface="Times New Roman" panose="02020603050405020304" pitchFamily="18" charset="0"/>
              </a:rPr>
              <a:t>Wantana</a:t>
            </a:r>
            <a:r>
              <a:rPr lang="en-US" sz="2400" dirty="0">
                <a:latin typeface="Times New Roman" panose="02020603050405020304" pitchFamily="18" charset="0"/>
              </a:rPr>
              <a:t> </a:t>
            </a:r>
            <a:r>
              <a:rPr lang="en-US" sz="2400" dirty="0" err="1">
                <a:latin typeface="Times New Roman" panose="02020603050405020304" pitchFamily="18" charset="0"/>
              </a:rPr>
              <a:t>Sisomboon</a:t>
            </a:r>
            <a:r>
              <a:rPr lang="en-US" sz="2400" dirty="0">
                <a:latin typeface="Times New Roman" panose="02020603050405020304" pitchFamily="18" charset="0"/>
              </a:rPr>
              <a:t>; </a:t>
            </a:r>
            <a:r>
              <a:rPr lang="en-US" sz="2400" dirty="0" err="1">
                <a:latin typeface="Times New Roman" panose="02020603050405020304" pitchFamily="18" charset="0"/>
              </a:rPr>
              <a:t>Jirayus</a:t>
            </a:r>
            <a:r>
              <a:rPr lang="en-US" sz="2400" dirty="0">
                <a:latin typeface="Times New Roman" panose="02020603050405020304" pitchFamily="18" charset="0"/>
              </a:rPr>
              <a:t> </a:t>
            </a:r>
            <a:r>
              <a:rPr lang="en-US" sz="2400" dirty="0" err="1">
                <a:latin typeface="Times New Roman" panose="02020603050405020304" pitchFamily="18" charset="0"/>
              </a:rPr>
              <a:t>Arbking</a:t>
            </a:r>
            <a:endParaRPr lang="en-US" sz="2400" dirty="0">
              <a:latin typeface="Times New Roman" panose="02020603050405020304" pitchFamily="18" charset="0"/>
            </a:endParaRPr>
          </a:p>
          <a:p>
            <a:pPr marL="0" indent="0" algn="just">
              <a:lnSpc>
                <a:spcPct val="150000"/>
              </a:lnSpc>
              <a:buNone/>
            </a:pPr>
            <a:r>
              <a:rPr lang="en-US" sz="2400" i="0" dirty="0">
                <a:solidFill>
                  <a:srgbClr val="333333"/>
                </a:solidFill>
                <a:effectLst/>
                <a:latin typeface="Times New Roman" panose="02020603050405020304" pitchFamily="18" charset="0"/>
              </a:rPr>
              <a:t>     </a:t>
            </a:r>
            <a:r>
              <a:rPr lang="en-US" sz="2400" b="1" i="0" dirty="0">
                <a:solidFill>
                  <a:srgbClr val="333333"/>
                </a:solidFill>
                <a:effectLst/>
                <a:latin typeface="Times New Roman" panose="02020603050405020304" pitchFamily="18" charset="0"/>
              </a:rPr>
              <a:t>Publisher: </a:t>
            </a:r>
            <a:r>
              <a:rPr lang="en-US" sz="2400" i="0" dirty="0">
                <a:solidFill>
                  <a:srgbClr val="333333"/>
                </a:solidFill>
                <a:effectLst/>
                <a:latin typeface="Times New Roman" panose="02020603050405020304" pitchFamily="18" charset="0"/>
              </a:rPr>
              <a:t>IEEE</a:t>
            </a:r>
          </a:p>
          <a:p>
            <a:pPr marL="0" indent="0" algn="just">
              <a:buNone/>
            </a:pPr>
            <a:endParaRPr lang="en-US" dirty="0">
              <a:latin typeface="Times New Roman" panose="02020603050405020304" pitchFamily="18" charset="0"/>
            </a:endParaRPr>
          </a:p>
          <a:p>
            <a:pPr algn="just"/>
            <a:endParaRPr lang="en-US" dirty="0">
              <a:latin typeface="Times New Roman" panose="02020603050405020304" pitchFamily="18" charset="0"/>
            </a:endParaRPr>
          </a:p>
          <a:p>
            <a:pPr algn="just"/>
            <a:endParaRPr lang="en-US" dirty="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3277262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rPr>
              <a:t>Journals</a:t>
            </a:r>
          </a:p>
          <a:p>
            <a:pPr marL="457200" indent="-457200" algn="just">
              <a:buFont typeface="+mj-lt"/>
              <a:buAutoNum type="arabicPeriod"/>
            </a:pPr>
            <a:r>
              <a:rPr lang="en-US" dirty="0">
                <a:latin typeface="Times New Roman" panose="02020603050405020304" pitchFamily="18" charset="0"/>
              </a:rPr>
              <a:t>UiPath Community Forum - WhatsApp Automation.</a:t>
            </a:r>
          </a:p>
          <a:p>
            <a:pPr marL="457200" indent="-457200" algn="just">
              <a:buFont typeface="+mj-lt"/>
              <a:buAutoNum type="arabicPeriod"/>
            </a:pPr>
            <a:r>
              <a:rPr lang="en-US" dirty="0">
                <a:latin typeface="Times New Roman" panose="02020603050405020304" pitchFamily="18" charset="0"/>
              </a:rPr>
              <a:t>UiPath Chatbots.</a:t>
            </a:r>
          </a:p>
          <a:p>
            <a:pPr marL="457200" indent="-457200" algn="just">
              <a:buFont typeface="+mj-lt"/>
              <a:buAutoNum type="arabicPeriod"/>
            </a:pPr>
            <a:r>
              <a:rPr lang="en-IN" dirty="0">
                <a:latin typeface="Times New Roman" panose="02020603050405020304" pitchFamily="18" charset="0"/>
              </a:rPr>
              <a:t>UiPath WhatsApp API Integration</a:t>
            </a:r>
            <a:r>
              <a:rPr lang="en-US" b="1" dirty="0">
                <a:latin typeface="Times New Roman" panose="02020603050405020304" pitchFamily="18" charset="0"/>
              </a:rPr>
              <a:t>.</a:t>
            </a:r>
          </a:p>
          <a:p>
            <a:pPr marL="0" indent="0" algn="just">
              <a:lnSpc>
                <a:spcPct val="150000"/>
              </a:lnSpc>
              <a:buNone/>
            </a:pPr>
            <a:endParaRPr lang="en-US" b="1" dirty="0">
              <a:latin typeface="Times New Roman" panose="02020603050405020304" pitchFamily="18" charset="0"/>
            </a:endParaRPr>
          </a:p>
          <a:p>
            <a:pPr marL="0" indent="0" algn="just">
              <a:lnSpc>
                <a:spcPct val="150000"/>
              </a:lnSpc>
              <a:buNone/>
            </a:pPr>
            <a:endParaRPr lang="en-US" b="1" dirty="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40E63C-B3F2-98B4-055D-88F9AF92AB82}"/>
              </a:ext>
            </a:extLst>
          </p:cNvPr>
          <p:cNvSpPr txBox="1"/>
          <p:nvPr/>
        </p:nvSpPr>
        <p:spPr>
          <a:xfrm>
            <a:off x="215516" y="224644"/>
            <a:ext cx="8496944" cy="6217087"/>
          </a:xfrm>
          <a:prstGeom prst="rect">
            <a:avLst/>
          </a:prstGeom>
          <a:noFill/>
        </p:spPr>
        <p:txBody>
          <a:bodyPr wrap="square" rtlCol="0">
            <a:spAutoFit/>
          </a:bodyPr>
          <a:lstStyle/>
          <a:p>
            <a:r>
              <a:rPr lang="en-US" sz="4400" dirty="0">
                <a:latin typeface="+mj-lt"/>
              </a:rPr>
              <a:t>Queries</a:t>
            </a:r>
          </a:p>
          <a:p>
            <a:endParaRPr lang="en-US" sz="1400" dirty="0"/>
          </a:p>
          <a:p>
            <a:endParaRPr lang="en-US" sz="1400" dirty="0"/>
          </a:p>
          <a:p>
            <a:pPr algn="just"/>
            <a:r>
              <a:rPr lang="en-US" sz="2400" dirty="0">
                <a:latin typeface="Times New Roman" panose="02020603050405020304" pitchFamily="18" charset="0"/>
                <a:cs typeface="Times New Roman" panose="02020603050405020304" pitchFamily="18" charset="0"/>
              </a:rPr>
              <a:t>1. How does the bot ensure accurate message delivery at the specified time?</a:t>
            </a:r>
          </a:p>
          <a:p>
            <a:pPr algn="just"/>
            <a:r>
              <a:rPr lang="en-US" sz="2400" dirty="0">
                <a:latin typeface="Times New Roman" panose="02020603050405020304" pitchFamily="18" charset="0"/>
                <a:cs typeface="Times New Roman" panose="02020603050405020304" pitchFamily="18" charset="0"/>
              </a:rPr>
              <a:t>	The bot uses the user-provided date and time as a trigger and continuously compares the current system time with the scheduled time. Once they match, the bot executes the message-sending workflow to ensure timely delivery.</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2. Are there any limitations to using UiPath for automating WhatsApp messaging?</a:t>
            </a:r>
          </a:p>
          <a:p>
            <a:pPr algn="just"/>
            <a:r>
              <a:rPr lang="en-US" sz="2400" dirty="0">
                <a:latin typeface="Times New Roman" panose="02020603050405020304" pitchFamily="18" charset="0"/>
                <a:cs typeface="Times New Roman" panose="02020603050405020304" pitchFamily="18" charset="0"/>
              </a:rPr>
              <a:t>	Yes, limitations include dependency on internet connectivity, compatibility with the WhatsApp application, and restrictions set by WhatsApp's terms of use, which may prohibit automation in certain cases.</a:t>
            </a:r>
          </a:p>
          <a:p>
            <a:endParaRPr lang="en-IN" sz="1400" dirty="0"/>
          </a:p>
        </p:txBody>
      </p:sp>
    </p:spTree>
    <p:extLst>
      <p:ext uri="{BB962C8B-B14F-4D97-AF65-F5344CB8AC3E}">
        <p14:creationId xmlns:p14="http://schemas.microsoft.com/office/powerpoint/2010/main" val="4146001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95536" y="224644"/>
            <a:ext cx="8424936" cy="2062103"/>
          </a:xfrm>
          <a:prstGeom prst="rect">
            <a:avLst/>
          </a:prstGeom>
          <a:noFill/>
        </p:spPr>
        <p:txBody>
          <a:bodyPr wrap="square" lIns="91440" tIns="45720" rIns="91440" bIns="45720">
            <a:spAutoFit/>
          </a:bodyPr>
          <a:lstStyle/>
          <a:p>
            <a:r>
              <a:rPr lang="en-US" sz="4400" dirty="0">
                <a:ln w="0"/>
                <a:latin typeface="+mj-lt"/>
              </a:rPr>
              <a:t>Demonstration</a:t>
            </a:r>
          </a:p>
          <a:p>
            <a:endParaRPr lang="en-US" sz="2400" dirty="0">
              <a:ln w="0"/>
            </a:endParaRPr>
          </a:p>
          <a:p>
            <a:pPr algn="just"/>
            <a:r>
              <a:rPr lang="en-US" sz="2000" b="1" dirty="0">
                <a:ln w="0"/>
                <a:latin typeface="Times New Roman" panose="02020603050405020304" pitchFamily="18" charset="0"/>
                <a:cs typeface="Times New Roman" panose="02020603050405020304" pitchFamily="18" charset="0"/>
              </a:rPr>
              <a:t>Step1: </a:t>
            </a:r>
            <a:r>
              <a:rPr lang="en-US" sz="2000" dirty="0">
                <a:ln w="0"/>
                <a:latin typeface="Times New Roman" panose="02020603050405020304" pitchFamily="18" charset="0"/>
                <a:cs typeface="Times New Roman" panose="02020603050405020304" pitchFamily="18" charset="0"/>
              </a:rPr>
              <a:t>Open UiPath Studio and Run the Workflow</a:t>
            </a:r>
          </a:p>
          <a:p>
            <a:pPr algn="just"/>
            <a:endParaRPr lang="en-US" sz="2000" dirty="0">
              <a:ln w="0"/>
              <a:latin typeface="Times New Roman" panose="02020603050405020304" pitchFamily="18" charset="0"/>
              <a:cs typeface="Times New Roman" panose="02020603050405020304" pitchFamily="18" charset="0"/>
            </a:endParaRPr>
          </a:p>
          <a:p>
            <a:endParaRPr lang="en-US" sz="2000" dirty="0">
              <a:ln w="0"/>
            </a:endParaRPr>
          </a:p>
        </p:txBody>
      </p:sp>
      <p:pic>
        <p:nvPicPr>
          <p:cNvPr id="3" name="Picture 2">
            <a:extLst>
              <a:ext uri="{FF2B5EF4-FFF2-40B4-BE49-F238E27FC236}">
                <a16:creationId xmlns:a16="http://schemas.microsoft.com/office/drawing/2014/main" id="{36AB1CA9-E565-63BC-496A-F50463E3CC1E}"/>
              </a:ext>
            </a:extLst>
          </p:cNvPr>
          <p:cNvPicPr>
            <a:picLocks noChangeAspect="1"/>
          </p:cNvPicPr>
          <p:nvPr/>
        </p:nvPicPr>
        <p:blipFill>
          <a:blip r:embed="rId3"/>
          <a:stretch>
            <a:fillRect/>
          </a:stretch>
        </p:blipFill>
        <p:spPr>
          <a:xfrm>
            <a:off x="2771800" y="2147442"/>
            <a:ext cx="2821829" cy="2563115"/>
          </a:xfrm>
          <a:prstGeom prst="rect">
            <a:avLst/>
          </a:prstGeom>
        </p:spPr>
      </p:pic>
    </p:spTree>
    <p:extLst>
      <p:ext uri="{BB962C8B-B14F-4D97-AF65-F5344CB8AC3E}">
        <p14:creationId xmlns:p14="http://schemas.microsoft.com/office/powerpoint/2010/main" val="2606368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3EB2274-C308-A419-A4E5-A408E53B2158}"/>
              </a:ext>
            </a:extLst>
          </p:cNvPr>
          <p:cNvPicPr>
            <a:picLocks noChangeAspect="1"/>
          </p:cNvPicPr>
          <p:nvPr/>
        </p:nvPicPr>
        <p:blipFill>
          <a:blip r:embed="rId2"/>
          <a:stretch>
            <a:fillRect/>
          </a:stretch>
        </p:blipFill>
        <p:spPr>
          <a:xfrm>
            <a:off x="2051720" y="0"/>
            <a:ext cx="4104456" cy="2862318"/>
          </a:xfrm>
          <a:prstGeom prst="rect">
            <a:avLst/>
          </a:prstGeom>
        </p:spPr>
      </p:pic>
      <p:sp>
        <p:nvSpPr>
          <p:cNvPr id="3" name="TextBox 2">
            <a:extLst>
              <a:ext uri="{FF2B5EF4-FFF2-40B4-BE49-F238E27FC236}">
                <a16:creationId xmlns:a16="http://schemas.microsoft.com/office/drawing/2014/main" id="{0FD6ACEC-CDB0-D91D-702F-22A87151C4F5}"/>
              </a:ext>
            </a:extLst>
          </p:cNvPr>
          <p:cNvSpPr txBox="1"/>
          <p:nvPr/>
        </p:nvSpPr>
        <p:spPr>
          <a:xfrm>
            <a:off x="267911" y="3033882"/>
            <a:ext cx="2300951"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Step 2: </a:t>
            </a:r>
            <a:r>
              <a:rPr lang="en-US" sz="2000" dirty="0">
                <a:latin typeface="Times New Roman" panose="02020603050405020304" pitchFamily="18" charset="0"/>
                <a:cs typeface="Times New Roman" panose="02020603050405020304" pitchFamily="18" charset="0"/>
              </a:rPr>
              <a:t>Input Values</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BE8BB65-CB43-4A9B-B8EA-079FCD92E7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571" y="3605557"/>
            <a:ext cx="2079033" cy="1330893"/>
          </a:xfrm>
          <a:prstGeom prst="rect">
            <a:avLst/>
          </a:prstGeom>
        </p:spPr>
      </p:pic>
      <p:pic>
        <p:nvPicPr>
          <p:cNvPr id="5" name="Picture 4">
            <a:extLst>
              <a:ext uri="{FF2B5EF4-FFF2-40B4-BE49-F238E27FC236}">
                <a16:creationId xmlns:a16="http://schemas.microsoft.com/office/drawing/2014/main" id="{1EAA39B5-3A0F-2B2D-05ED-965A4B47CC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04004" y="3605556"/>
            <a:ext cx="2079034" cy="1330893"/>
          </a:xfrm>
          <a:prstGeom prst="rect">
            <a:avLst/>
          </a:prstGeom>
        </p:spPr>
      </p:pic>
      <p:pic>
        <p:nvPicPr>
          <p:cNvPr id="7" name="Picture 6">
            <a:extLst>
              <a:ext uri="{FF2B5EF4-FFF2-40B4-BE49-F238E27FC236}">
                <a16:creationId xmlns:a16="http://schemas.microsoft.com/office/drawing/2014/main" id="{2EDCD8B9-658F-296B-C7FC-964B4AC90E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40463" y="3605556"/>
            <a:ext cx="2190260" cy="1330893"/>
          </a:xfrm>
          <a:prstGeom prst="rect">
            <a:avLst/>
          </a:prstGeom>
        </p:spPr>
      </p:pic>
      <p:pic>
        <p:nvPicPr>
          <p:cNvPr id="8" name="Picture 7">
            <a:extLst>
              <a:ext uri="{FF2B5EF4-FFF2-40B4-BE49-F238E27FC236}">
                <a16:creationId xmlns:a16="http://schemas.microsoft.com/office/drawing/2014/main" id="{4E057BA7-849D-93E2-CC88-FDC1F2DB21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97591" y="3660402"/>
            <a:ext cx="2190260" cy="1221199"/>
          </a:xfrm>
          <a:prstGeom prst="rect">
            <a:avLst/>
          </a:prstGeom>
        </p:spPr>
      </p:pic>
      <p:sp>
        <p:nvSpPr>
          <p:cNvPr id="9" name="TextBox 8">
            <a:extLst>
              <a:ext uri="{FF2B5EF4-FFF2-40B4-BE49-F238E27FC236}">
                <a16:creationId xmlns:a16="http://schemas.microsoft.com/office/drawing/2014/main" id="{05177266-1359-D967-3889-AD12A2EC50A3}"/>
              </a:ext>
            </a:extLst>
          </p:cNvPr>
          <p:cNvSpPr txBox="1"/>
          <p:nvPr/>
        </p:nvSpPr>
        <p:spPr>
          <a:xfrm>
            <a:off x="255349" y="5070766"/>
            <a:ext cx="2568332"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Step 3: </a:t>
            </a:r>
            <a:r>
              <a:rPr lang="en-US" sz="2000" dirty="0">
                <a:latin typeface="Times New Roman" panose="02020603050405020304" pitchFamily="18" charset="0"/>
                <a:cs typeface="Times New Roman" panose="02020603050405020304" pitchFamily="18" charset="0"/>
              </a:rPr>
              <a:t>Contact Search</a:t>
            </a:r>
            <a:endParaRPr lang="en-IN" sz="20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45BFDE1F-85CE-754A-18C2-97B0982FF2D4}"/>
              </a:ext>
            </a:extLst>
          </p:cNvPr>
          <p:cNvPicPr>
            <a:picLocks noChangeAspect="1"/>
          </p:cNvPicPr>
          <p:nvPr/>
        </p:nvPicPr>
        <p:blipFill>
          <a:blip r:embed="rId7"/>
          <a:stretch>
            <a:fillRect/>
          </a:stretch>
        </p:blipFill>
        <p:spPr>
          <a:xfrm>
            <a:off x="395536" y="5605192"/>
            <a:ext cx="2952328" cy="1125245"/>
          </a:xfrm>
          <a:prstGeom prst="rect">
            <a:avLst/>
          </a:prstGeom>
        </p:spPr>
      </p:pic>
      <p:sp>
        <p:nvSpPr>
          <p:cNvPr id="12" name="TextBox 11">
            <a:extLst>
              <a:ext uri="{FF2B5EF4-FFF2-40B4-BE49-F238E27FC236}">
                <a16:creationId xmlns:a16="http://schemas.microsoft.com/office/drawing/2014/main" id="{27399F04-CF87-65CC-B799-D7FD129C7DEA}"/>
              </a:ext>
            </a:extLst>
          </p:cNvPr>
          <p:cNvSpPr txBox="1"/>
          <p:nvPr/>
        </p:nvSpPr>
        <p:spPr>
          <a:xfrm>
            <a:off x="5625189" y="5150927"/>
            <a:ext cx="2866490"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Step 4: </a:t>
            </a:r>
            <a:r>
              <a:rPr lang="en-US" sz="2000" dirty="0">
                <a:latin typeface="Times New Roman" panose="02020603050405020304" pitchFamily="18" charset="0"/>
                <a:cs typeface="Times New Roman" panose="02020603050405020304" pitchFamily="18" charset="0"/>
              </a:rPr>
              <a:t>Message Delivery</a:t>
            </a:r>
          </a:p>
        </p:txBody>
      </p:sp>
      <p:pic>
        <p:nvPicPr>
          <p:cNvPr id="13" name="Picture 12">
            <a:extLst>
              <a:ext uri="{FF2B5EF4-FFF2-40B4-BE49-F238E27FC236}">
                <a16:creationId xmlns:a16="http://schemas.microsoft.com/office/drawing/2014/main" id="{45990C0A-370D-C536-6EFB-CA05D7D6DEE0}"/>
              </a:ext>
            </a:extLst>
          </p:cNvPr>
          <p:cNvPicPr>
            <a:picLocks noChangeAspect="1"/>
          </p:cNvPicPr>
          <p:nvPr/>
        </p:nvPicPr>
        <p:blipFill>
          <a:blip r:embed="rId8"/>
          <a:stretch>
            <a:fillRect/>
          </a:stretch>
        </p:blipFill>
        <p:spPr>
          <a:xfrm>
            <a:off x="6048164" y="5820363"/>
            <a:ext cx="2162436" cy="762066"/>
          </a:xfrm>
          <a:prstGeom prst="rect">
            <a:avLst/>
          </a:prstGeom>
        </p:spPr>
      </p:pic>
    </p:spTree>
    <p:extLst>
      <p:ext uri="{BB962C8B-B14F-4D97-AF65-F5344CB8AC3E}">
        <p14:creationId xmlns:p14="http://schemas.microsoft.com/office/powerpoint/2010/main" val="3799828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9622</TotalTime>
  <Words>1071</Words>
  <Application>Microsoft Office PowerPoint</Application>
  <PresentationFormat>On-screen Show (4:3)</PresentationFormat>
  <Paragraphs>136</Paragraphs>
  <Slides>21</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Calibri</vt:lpstr>
      <vt:lpstr>HelveticaNeue Regular</vt:lpstr>
      <vt:lpstr>Open Sans Bold</vt:lpstr>
      <vt:lpstr>Open Sans Extrabold</vt:lpstr>
      <vt:lpstr>Open Sans Light</vt:lpstr>
      <vt:lpstr>Times New Roman</vt:lpstr>
      <vt:lpstr>Wingdings</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Functional Description</vt:lpstr>
      <vt:lpstr>Table Design</vt:lpstr>
      <vt:lpstr>Process Design</vt:lpstr>
      <vt:lpstr>Implementation</vt:lpstr>
      <vt:lpstr>Testing</vt:lpstr>
      <vt:lpstr>Conclusions</vt:lpstr>
      <vt:lpstr>Future Enhancement</vt:lpstr>
      <vt:lpstr>IEEE Paper</vt:lpstr>
      <vt:lpstr>References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Janani J</cp:lastModifiedBy>
  <cp:revision>1753</cp:revision>
  <dcterms:created xsi:type="dcterms:W3CDTF">2013-05-17T03:00:03Z</dcterms:created>
  <dcterms:modified xsi:type="dcterms:W3CDTF">2024-11-21T14:32:12Z</dcterms:modified>
</cp:coreProperties>
</file>